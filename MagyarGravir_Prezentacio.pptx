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9" r:id="rId10"/>
    <p:sldId id="270" r:id="rId11"/>
    <p:sldId id="277" r:id="rId12"/>
    <p:sldId id="271" r:id="rId13"/>
    <p:sldId id="262" r:id="rId14"/>
    <p:sldId id="272" r:id="rId15"/>
    <p:sldId id="273" r:id="rId16"/>
    <p:sldId id="274" r:id="rId17"/>
    <p:sldId id="275" r:id="rId18"/>
    <p:sldId id="279" r:id="rId19"/>
    <p:sldId id="280" r:id="rId20"/>
    <p:sldId id="281" r:id="rId21"/>
    <p:sldId id="282" r:id="rId22"/>
    <p:sldId id="263" r:id="rId23"/>
    <p:sldId id="264" r:id="rId24"/>
    <p:sldId id="265" r:id="rId25"/>
    <p:sldId id="276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6927"/>
    <a:srgbClr val="FACC15"/>
    <a:srgbClr val="815822"/>
    <a:srgbClr val="EDC9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00726" y="274638"/>
            <a:ext cx="7486073" cy="1143000"/>
          </a:xfrm>
        </p:spPr>
        <p:txBody>
          <a:bodyPr>
            <a:noAutofit/>
          </a:bodyPr>
          <a:lstStyle>
            <a:lvl1pPr algn="l"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rgbClr val="EDC96A"/>
                </a:solidFill>
              </a:defRPr>
            </a:lvl1pPr>
            <a:lvl2pPr>
              <a:defRPr>
                <a:solidFill>
                  <a:srgbClr val="EDC96A"/>
                </a:solidFill>
              </a:defRPr>
            </a:lvl2pPr>
            <a:lvl3pPr>
              <a:defRPr>
                <a:solidFill>
                  <a:srgbClr val="EDC96A"/>
                </a:solidFill>
              </a:defRPr>
            </a:lvl3pPr>
            <a:lvl4pPr>
              <a:defRPr>
                <a:solidFill>
                  <a:srgbClr val="EDC96A"/>
                </a:solidFill>
              </a:defRPr>
            </a:lvl4pPr>
            <a:lvl5pPr>
              <a:defRPr>
                <a:solidFill>
                  <a:srgbClr val="EDC96A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3018" y="274638"/>
            <a:ext cx="7513782" cy="1143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EDC96A"/>
          </a:solidFill>
          <a:latin typeface="Palatino Linotype" panose="02040502050505030304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EDC96A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EDC96A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EDC96A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EDC96A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458" y="4011459"/>
            <a:ext cx="7772400" cy="1470025"/>
          </a:xfrm>
        </p:spPr>
        <p:txBody>
          <a:bodyPr/>
          <a:lstStyle/>
          <a:p>
            <a:r>
              <a:rPr b="1" dirty="0">
                <a:solidFill>
                  <a:srgbClr val="966927"/>
                </a:solidFill>
                <a:latin typeface="Palatino Linotype" panose="02040502050505030304" pitchFamily="18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MAGYAR GRAVÍR WEBÁRUHÁZ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869857"/>
            <a:ext cx="6400800" cy="432619"/>
          </a:xfrm>
        </p:spPr>
        <p:txBody>
          <a:bodyPr>
            <a:normAutofit lnSpcReduction="10000"/>
          </a:bodyPr>
          <a:lstStyle/>
          <a:p>
            <a:pPr lvl="0"/>
            <a:r>
              <a:rPr lang="hu-HU" sz="2400" dirty="0">
                <a:solidFill>
                  <a:srgbClr val="815822"/>
                </a:solidFill>
                <a:latin typeface="Palatino Linotype" panose="02040502050505030304" pitchFamily="18" charset="0"/>
              </a:rPr>
              <a:t>2026.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D69BC7B-E339-3348-96F7-81B9827F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403" y="555523"/>
            <a:ext cx="3183194" cy="31831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529" y="274638"/>
            <a:ext cx="7428270" cy="1143000"/>
          </a:xfrm>
        </p:spPr>
        <p:txBody>
          <a:bodyPr/>
          <a:lstStyle/>
          <a:p>
            <a:pPr algn="l"/>
            <a:r>
              <a:rPr b="1" dirty="0">
                <a:latin typeface="Palatino Linotype" panose="02040502050505030304" pitchFamily="18" charset="0"/>
              </a:rPr>
              <a:t>Projekt </a:t>
            </a:r>
            <a:r>
              <a:rPr b="1" dirty="0" err="1">
                <a:latin typeface="Palatino Linotype" panose="02040502050505030304" pitchFamily="18" charset="0"/>
              </a:rPr>
              <a:t>célja</a:t>
            </a:r>
            <a:endParaRPr b="1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hu-HU" dirty="0">
                <a:solidFill>
                  <a:srgbClr val="EDC96A"/>
                </a:solidFill>
                <a:cs typeface="Segoe UI" panose="020B0502040204020203" pitchFamily="34" charset="0"/>
              </a:rPr>
              <a:t>Egyedi gravírozott termékek értékesítése </a:t>
            </a:r>
          </a:p>
          <a:p>
            <a:pPr lvl="0"/>
            <a:r>
              <a:rPr lang="hu-HU" dirty="0">
                <a:solidFill>
                  <a:srgbClr val="EDC96A"/>
                </a:solidFill>
                <a:cs typeface="Segoe UI" panose="020B0502040204020203" pitchFamily="34" charset="0"/>
              </a:rPr>
              <a:t>Modern, felhasználóbarát webshop </a:t>
            </a:r>
          </a:p>
          <a:p>
            <a:pPr lvl="0"/>
            <a:r>
              <a:rPr lang="hu-HU" dirty="0" err="1">
                <a:solidFill>
                  <a:srgbClr val="EDC96A"/>
                </a:solidFill>
                <a:cs typeface="Segoe UI" panose="020B0502040204020203" pitchFamily="34" charset="0"/>
              </a:rPr>
              <a:t>Admin</a:t>
            </a:r>
            <a:r>
              <a:rPr lang="hu-HU" dirty="0">
                <a:solidFill>
                  <a:srgbClr val="EDC96A"/>
                </a:solidFill>
                <a:cs typeface="Segoe UI" panose="020B0502040204020203" pitchFamily="34" charset="0"/>
              </a:rPr>
              <a:t> felület biztosítása </a:t>
            </a:r>
          </a:p>
        </p:txBody>
      </p:sp>
      <p:pic>
        <p:nvPicPr>
          <p:cNvPr id="4" name="Kép4">
            <a:extLst>
              <a:ext uri="{FF2B5EF4-FFF2-40B4-BE49-F238E27FC236}">
                <a16:creationId xmlns:a16="http://schemas.microsoft.com/office/drawing/2014/main" id="{133ACC5E-3DD0-2AEF-57D3-EF04BA2735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25"/>
          <a:stretch>
            <a:fillRect/>
          </a:stretch>
        </p:blipFill>
        <p:spPr>
          <a:xfrm>
            <a:off x="1149216" y="3429000"/>
            <a:ext cx="6845568" cy="31543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 err="1"/>
              <a:t>Fő</a:t>
            </a:r>
            <a:r>
              <a:rPr dirty="0"/>
              <a:t> </a:t>
            </a:r>
            <a:r>
              <a:rPr dirty="0" err="1"/>
              <a:t>funkciók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hu-HU" dirty="0"/>
              <a:t>Termékek böngészése </a:t>
            </a:r>
          </a:p>
          <a:p>
            <a:pPr lvl="0"/>
            <a:r>
              <a:rPr lang="hu-HU" dirty="0"/>
              <a:t>Kosár használata </a:t>
            </a:r>
          </a:p>
          <a:p>
            <a:pPr lvl="0"/>
            <a:r>
              <a:rPr lang="hu-HU" dirty="0"/>
              <a:t>Rendelés leadása </a:t>
            </a:r>
          </a:p>
          <a:p>
            <a:pPr lvl="0"/>
            <a:r>
              <a:rPr lang="hu-HU" dirty="0" err="1"/>
              <a:t>Admin</a:t>
            </a:r>
            <a:r>
              <a:rPr lang="hu-HU" dirty="0"/>
              <a:t> felület </a:t>
            </a:r>
          </a:p>
          <a:p>
            <a:pPr marL="0" indent="0" algn="ctr">
              <a:buNone/>
            </a:pPr>
            <a:br>
              <a:rPr lang="hu-HU" dirty="0"/>
            </a:br>
            <a:r>
              <a:rPr lang="hu-HU" sz="2800" dirty="0"/>
              <a:t>A rendszer teljes webshop funkcionalitást biztosít, a felhasználó kiválasztja a termékeket, kosárba tudja tenni, majd rendelést is tud leadni.</a:t>
            </a:r>
            <a:br>
              <a:rPr lang="hu-HU" sz="2800" dirty="0"/>
            </a:br>
            <a:r>
              <a:rPr lang="hu-HU" sz="2800" dirty="0"/>
              <a:t>Ezek az </a:t>
            </a:r>
            <a:r>
              <a:rPr lang="hu-HU" sz="2800" dirty="0" err="1"/>
              <a:t>admin</a:t>
            </a:r>
            <a:r>
              <a:rPr lang="hu-HU" sz="2800" dirty="0"/>
              <a:t> oldalon kezelhetők.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hu-HU" dirty="0"/>
              <a:t>HTML – struktúra </a:t>
            </a:r>
          </a:p>
          <a:p>
            <a:pPr lvl="0"/>
            <a:r>
              <a:rPr lang="hu-HU" dirty="0"/>
              <a:t>CSS – megjelenés </a:t>
            </a:r>
          </a:p>
          <a:p>
            <a:pPr lvl="0"/>
            <a:r>
              <a:rPr lang="hu-HU" dirty="0"/>
              <a:t>JavaScript – interaktivitás </a:t>
            </a:r>
          </a:p>
          <a:p>
            <a:pPr lvl="0"/>
            <a:r>
              <a:rPr lang="hu-HU" dirty="0"/>
              <a:t>Reszponzív kialakítás </a:t>
            </a:r>
          </a:p>
          <a:p>
            <a:pPr marL="0" indent="0" algn="ctr">
              <a:buNone/>
            </a:pPr>
            <a:br>
              <a:rPr lang="hu-HU" dirty="0"/>
            </a:br>
            <a:r>
              <a:rPr lang="hu-HU" sz="2800" dirty="0"/>
              <a:t>A frontend felel a felhasználói élményért. Reszponzívra lett tervezve, tehát mobilon és asztali gépen is jól működik. JavaScriptet használtunk a dinamikus működéshez és </a:t>
            </a:r>
            <a:r>
              <a:rPr lang="hu-HU" sz="2800" dirty="0" err="1"/>
              <a:t>css</a:t>
            </a:r>
            <a:r>
              <a:rPr lang="hu-HU" sz="2800" dirty="0"/>
              <a:t>-t a megjelenítéshez.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hu-HU" dirty="0"/>
              <a:t>ASP.NET </a:t>
            </a:r>
            <a:r>
              <a:rPr lang="hu-HU" dirty="0" err="1"/>
              <a:t>Core</a:t>
            </a:r>
            <a:r>
              <a:rPr lang="hu-HU" dirty="0"/>
              <a:t> </a:t>
            </a:r>
          </a:p>
          <a:p>
            <a:pPr lvl="0"/>
            <a:r>
              <a:rPr lang="hu-HU" dirty="0"/>
              <a:t>C# nyelv </a:t>
            </a:r>
          </a:p>
          <a:p>
            <a:pPr lvl="0"/>
            <a:r>
              <a:rPr lang="hu-HU" dirty="0" err="1"/>
              <a:t>Razor</a:t>
            </a:r>
            <a:r>
              <a:rPr lang="hu-HU" dirty="0"/>
              <a:t> </a:t>
            </a:r>
            <a:r>
              <a:rPr lang="hu-HU" dirty="0" err="1"/>
              <a:t>Pages</a:t>
            </a:r>
            <a:r>
              <a:rPr lang="hu-HU" dirty="0"/>
              <a:t> </a:t>
            </a:r>
          </a:p>
          <a:p>
            <a:pPr lvl="0"/>
            <a:r>
              <a:rPr lang="hu-HU" dirty="0"/>
              <a:t>Üzleti logika </a:t>
            </a:r>
          </a:p>
          <a:p>
            <a:pPr marL="0" indent="0" algn="ctr">
              <a:buNone/>
            </a:pPr>
            <a:br>
              <a:rPr lang="hu-HU" dirty="0"/>
            </a:br>
            <a:r>
              <a:rPr lang="hu-HU" sz="2800" dirty="0"/>
              <a:t>A backend kezeli az összes logikát: rendeléseket, felhasználókat, adatfeldolgozást. A </a:t>
            </a:r>
            <a:r>
              <a:rPr lang="hu-HU" sz="2800" dirty="0" err="1"/>
              <a:t>Razor</a:t>
            </a:r>
            <a:r>
              <a:rPr lang="hu-HU" sz="2800" dirty="0"/>
              <a:t> </a:t>
            </a:r>
            <a:r>
              <a:rPr lang="hu-HU" sz="2800" dirty="0" err="1"/>
              <a:t>Pages</a:t>
            </a:r>
            <a:r>
              <a:rPr lang="hu-HU" sz="2800" dirty="0"/>
              <a:t> lehetővé teszi, hogy egy helyen legyen a megjelenítés és a logika is.</a:t>
            </a:r>
            <a:endParaRPr lang="hu-H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668300-C01E-4889-8321-2CC67B1DE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/>
              <a:t>Adatbázis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CEAA1EE-46DE-4CFE-B6B6-910BEA4D73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solidFill>
                  <a:srgbClr val="EDC96A"/>
                </a:solidFill>
              </a:rPr>
              <a:t>Adatok tárolása és kezelése</a:t>
            </a:r>
          </a:p>
        </p:txBody>
      </p:sp>
    </p:spTree>
    <p:extLst>
      <p:ext uri="{BB962C8B-B14F-4D97-AF65-F5344CB8AC3E}">
        <p14:creationId xmlns:p14="http://schemas.microsoft.com/office/powerpoint/2010/main" val="2514442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7B5412-1A49-4C8D-80AF-E56B92D4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adatbázis szerepe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8B55991-DC87-41DE-ADC5-97872F85A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/>
              <a:t>Tárolt adatok: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Termékek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Felhasználók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Kategóriák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Rendelések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Rendelési tételek 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Cél: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Megbízható és strukturált adattárolás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3833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A5DA53-EAA5-4F84-B639-FC24C1744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hu-HU" b="1" dirty="0" err="1">
                <a:solidFill>
                  <a:srgbClr val="EDC96A"/>
                </a:solidFill>
              </a:rPr>
              <a:t>Entity</a:t>
            </a:r>
            <a:r>
              <a:rPr lang="hu-HU" b="1" dirty="0">
                <a:solidFill>
                  <a:srgbClr val="EDC96A"/>
                </a:solidFill>
              </a:rPr>
              <a:t> Framework </a:t>
            </a:r>
            <a:r>
              <a:rPr lang="hu-HU" b="1" dirty="0" err="1">
                <a:solidFill>
                  <a:srgbClr val="EDC96A"/>
                </a:solidFill>
              </a:rPr>
              <a:t>Core</a:t>
            </a:r>
            <a:r>
              <a:rPr lang="hu-HU" b="1" dirty="0">
                <a:solidFill>
                  <a:srgbClr val="EDC96A"/>
                </a:solidFill>
              </a:rPr>
              <a:t> + </a:t>
            </a:r>
            <a:r>
              <a:rPr lang="hu-HU" b="1" dirty="0" err="1">
                <a:solidFill>
                  <a:srgbClr val="EDC96A"/>
                </a:solidFill>
              </a:rPr>
              <a:t>SQLite</a:t>
            </a:r>
            <a:endParaRPr lang="hu-HU" b="1" dirty="0">
              <a:solidFill>
                <a:srgbClr val="EDC96A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B4DFA7F-1A2B-4DB5-B039-37FB3507C4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b="1" dirty="0" err="1"/>
              <a:t>Entity</a:t>
            </a:r>
            <a:r>
              <a:rPr lang="hu-HU" b="1" dirty="0"/>
              <a:t> Framework </a:t>
            </a:r>
            <a:r>
              <a:rPr lang="hu-HU" b="1" dirty="0" err="1"/>
              <a:t>Core</a:t>
            </a:r>
            <a:endParaRPr lang="hu-HU" b="1" dirty="0"/>
          </a:p>
          <a:p>
            <a:pPr marL="0" indent="0">
              <a:buNone/>
            </a:pPr>
            <a:endParaRPr lang="hu-HU" b="1" dirty="0"/>
          </a:p>
          <a:p>
            <a:r>
              <a:rPr lang="hu-HU" dirty="0"/>
              <a:t>ORM keretrendszer</a:t>
            </a:r>
            <a:r>
              <a:rPr lang="hu-HU" b="1" dirty="0"/>
              <a:t>-</a:t>
            </a:r>
            <a:r>
              <a:rPr lang="hu-HU" dirty="0"/>
              <a:t>segítségével kommunikál a projekt az adatbázissal.</a:t>
            </a:r>
          </a:p>
          <a:p>
            <a:r>
              <a:rPr lang="hu-HU" dirty="0"/>
              <a:t>Nem szükséges közvetlen SQL minden művelethez</a:t>
            </a:r>
          </a:p>
          <a:p>
            <a:pPr marL="0" indent="0">
              <a:buNone/>
            </a:pPr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B7E9244-235F-4BA9-B5BE-621047A8F3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b="1" dirty="0" err="1"/>
              <a:t>SQLite</a:t>
            </a:r>
            <a:endParaRPr lang="hu-HU" b="1" dirty="0"/>
          </a:p>
          <a:p>
            <a:pPr marL="0" indent="0">
              <a:buNone/>
            </a:pPr>
            <a:endParaRPr lang="hu-HU" b="1" dirty="0"/>
          </a:p>
          <a:p>
            <a:r>
              <a:rPr lang="hu-HU" dirty="0"/>
              <a:t>Könnyű és gyors</a:t>
            </a:r>
            <a:endParaRPr lang="hu-HU" b="1" dirty="0"/>
          </a:p>
          <a:p>
            <a:r>
              <a:rPr lang="hu-HU" dirty="0"/>
              <a:t>Fájl alapú</a:t>
            </a:r>
          </a:p>
          <a:p>
            <a:r>
              <a:rPr lang="hu-HU" dirty="0"/>
              <a:t>Külön szerver telepítése nélkül működik</a:t>
            </a:r>
          </a:p>
          <a:p>
            <a:r>
              <a:rPr lang="hu-HU" dirty="0"/>
              <a:t>SQL (strukturált lekérdezési nyelv) használ</a:t>
            </a:r>
          </a:p>
        </p:txBody>
      </p: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7B01A3E0-C3D6-1BED-917B-5B6B3366118A}"/>
              </a:ext>
            </a:extLst>
          </p:cNvPr>
          <p:cNvCxnSpPr>
            <a:cxnSpLocks/>
          </p:cNvCxnSpPr>
          <p:nvPr/>
        </p:nvCxnSpPr>
        <p:spPr>
          <a:xfrm flipV="1">
            <a:off x="4572000" y="1417638"/>
            <a:ext cx="0" cy="45702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113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1B93C5-9D9A-4F6E-8E09-13A864253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u-HU" dirty="0"/>
              <a:t>Adatbázis vizsgálata </a:t>
            </a:r>
            <a:r>
              <a:rPr lang="hu-HU" b="1" dirty="0">
                <a:solidFill>
                  <a:srgbClr val="EDC96A"/>
                </a:solidFill>
              </a:rPr>
              <a:t>(</a:t>
            </a:r>
            <a:r>
              <a:rPr lang="hu-HU" b="1" dirty="0" err="1">
                <a:solidFill>
                  <a:srgbClr val="EDC96A"/>
                </a:solidFill>
              </a:rPr>
              <a:t>DBeaver</a:t>
            </a:r>
            <a:r>
              <a:rPr lang="hu-HU" b="1" dirty="0">
                <a:solidFill>
                  <a:srgbClr val="EDC96A"/>
                </a:solidFill>
              </a:rPr>
              <a:t>)</a:t>
            </a:r>
          </a:p>
        </p:txBody>
      </p:sp>
      <p:pic>
        <p:nvPicPr>
          <p:cNvPr id="4" name="Kép7">
            <a:extLst>
              <a:ext uri="{FF2B5EF4-FFF2-40B4-BE49-F238E27FC236}">
                <a16:creationId xmlns:a16="http://schemas.microsoft.com/office/drawing/2014/main" id="{03CBFB33-3B36-4F44-811B-CC4B40496B79}"/>
              </a:ext>
            </a:extLst>
          </p:cNvPr>
          <p:cNvPicPr>
            <a:picLocks noGrp="1" noChangeAspect="1"/>
            <a:extLst>
              <a:ext uri="sm">
                <sm:smNativeData xmlns="" xmlns:lc="http://schemas.openxmlformats.org/drawingml/2006/lockedCanvas" xmlns:sm="sm" val="SMDATA_16_rb7QuhMAAAAlAAAAEQAAAC0AAAAAkAAAAEgAAACQAAAASAAAAAAAAAAAAAAAAAAAAAEAAABQAAAAAAAAAAAA4D8AAAAAAADgPwAAAAAAAOA/AAAAAAAA4D8AAAAAAADgPwAAAAAAAOA/AAAAAAAA4D8AAAAAAADgPwAAAAAAAOA/AAAAAAAA4D8CAAAAjAAAAAAAAAAAAAAA////AAAAAAAAAAAAAAAAAAAAAAAAAAAAAAAAAAAAAAAAAAAAZAAAAAEAAABAAAAAAAAAAAAAAAAAAAAAAAAAAAAAAAAAAAAAAAAAAAAAAAAAAAAAAAAAAAAAAAAAAAAAAAAAAAAAAAAAAAAAAAAAAAAAAAAAAAAAAAAAAAAAAAAAAAAAFAAAADwAAAAAAAAAAAAAAAAAAAAUAAAAAQAAABQAAAAUAAAAFAAAAAEAAAAAAAAAZAAAAGQAAAAAAAAAZAAAAGQAAAAVAAAAYAAAAAAAAAAAAAAADwAAACADAAAAAAAAAAAAAAEAAACgMgAAVgcAAKr4//8BAAAAf39/AAEAAABkAAAAAAAAABQAAABAHwAAAAAAACYAAAAAAAAAwOD//wAAAAAmAAAAZAAAABYAAABMAAAAAAAAAAAAAAAEAAAAAAAAAAEAAAB/f38A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hAAAAQAAAADwAAAAAAAAAB6AAAAAAAAAAAAAAAAAAAAAAAAAAAAAAAAAAAAAAAAAAAAAAJRYAANMLAAAAAAAAAAAAAAAAAAAoAAAACAAAAAEAAAABAAAA"/>
              </a:ext>
            </a:extLst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2833" y="1995948"/>
            <a:ext cx="6533980" cy="3487788"/>
          </a:xfrm>
          <a:prstGeom prst="rect">
            <a:avLst/>
          </a:prstGeom>
          <a:noFill/>
          <a:ln w="12700">
            <a:noFill/>
          </a:ln>
          <a:effectLst/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BAD9DFEB-B2DA-4367-AEAA-D80144AFDFBC}"/>
              </a:ext>
            </a:extLst>
          </p:cNvPr>
          <p:cNvSpPr txBox="1"/>
          <p:nvPr/>
        </p:nvSpPr>
        <p:spPr>
          <a:xfrm>
            <a:off x="3051736" y="5600380"/>
            <a:ext cx="3040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i="1" dirty="0">
                <a:solidFill>
                  <a:srgbClr val="966927"/>
                </a:solidFill>
                <a:latin typeface="Palatino Linotype" panose="02040502050505030304" pitchFamily="18" charset="0"/>
              </a:rPr>
              <a:t>SQL lekérdezés </a:t>
            </a:r>
            <a:r>
              <a:rPr lang="hu-HU" sz="1400" i="1" dirty="0" err="1">
                <a:solidFill>
                  <a:srgbClr val="966927"/>
                </a:solidFill>
                <a:latin typeface="Palatino Linotype" panose="02040502050505030304" pitchFamily="18" charset="0"/>
              </a:rPr>
              <a:t>DBeaver</a:t>
            </a:r>
            <a:r>
              <a:rPr lang="hu-HU" sz="1400" i="1" dirty="0">
                <a:solidFill>
                  <a:srgbClr val="966927"/>
                </a:solidFill>
                <a:latin typeface="Palatino Linotype" panose="02040502050505030304" pitchFamily="18" charset="0"/>
              </a:rPr>
              <a:t> programban</a:t>
            </a:r>
          </a:p>
        </p:txBody>
      </p:sp>
    </p:spTree>
    <p:extLst>
      <p:ext uri="{BB962C8B-B14F-4D97-AF65-F5344CB8AC3E}">
        <p14:creationId xmlns:p14="http://schemas.microsoft.com/office/powerpoint/2010/main" val="392421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5AE120-A5CB-4C0C-9AFC-3F5152B78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 séma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801DEF-5E17-4FB2-973D-D50F38961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/>
              <a:t>Mi az adatbázis séma?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Az adatbázis felépítésének leírása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Táblák, mezők és kapcsolatok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Segíti a rendszer megértését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Az </a:t>
            </a:r>
            <a:r>
              <a:rPr lang="hu-HU" b="1" dirty="0"/>
              <a:t>ER diagram </a:t>
            </a:r>
            <a:r>
              <a:rPr lang="hu-HU" dirty="0"/>
              <a:t>megmutatja: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Táblák közötti kapcsolatokat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Az adatok struktúráját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A webshop logikai felépítését</a:t>
            </a:r>
          </a:p>
        </p:txBody>
      </p:sp>
    </p:spTree>
    <p:extLst>
      <p:ext uri="{BB962C8B-B14F-4D97-AF65-F5344CB8AC3E}">
        <p14:creationId xmlns:p14="http://schemas.microsoft.com/office/powerpoint/2010/main" val="683008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2816FB78-54AE-4652-BC6C-C21D6A84C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4704" y="599857"/>
            <a:ext cx="3434591" cy="5132505"/>
          </a:xfr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9608C2CB-3B53-430D-9EB8-7430CEC48DB6}"/>
              </a:ext>
            </a:extLst>
          </p:cNvPr>
          <p:cNvSpPr txBox="1"/>
          <p:nvPr/>
        </p:nvSpPr>
        <p:spPr>
          <a:xfrm>
            <a:off x="3554728" y="5868312"/>
            <a:ext cx="20345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400" i="1" dirty="0">
                <a:solidFill>
                  <a:srgbClr val="966927"/>
                </a:solidFill>
                <a:latin typeface="Palatino Linotype" panose="02040502050505030304" pitchFamily="18" charset="0"/>
              </a:rPr>
              <a:t>Adatbázis séma</a:t>
            </a:r>
          </a:p>
        </p:txBody>
      </p:sp>
    </p:spTree>
    <p:extLst>
      <p:ext uri="{BB962C8B-B14F-4D97-AF65-F5344CB8AC3E}">
        <p14:creationId xmlns:p14="http://schemas.microsoft.com/office/powerpoint/2010/main" val="3194932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84BE7F-5540-4234-8D77-79FE5D8C9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4000" dirty="0"/>
              <a:t>Adatbázis összegzés</a:t>
            </a:r>
            <a:endParaRPr lang="hu-HU" sz="4800" dirty="0"/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4E7788E2-ADA9-4454-BE6C-B866576E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A webshop adatbázisa: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 err="1"/>
              <a:t>Entity</a:t>
            </a:r>
            <a:r>
              <a:rPr lang="hu-HU" dirty="0"/>
              <a:t> Framework </a:t>
            </a:r>
            <a:r>
              <a:rPr lang="hu-HU" dirty="0" err="1"/>
              <a:t>Core</a:t>
            </a:r>
            <a:r>
              <a:rPr lang="hu-HU" dirty="0"/>
              <a:t> segítségével működik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 err="1"/>
              <a:t>SQLite</a:t>
            </a:r>
            <a:r>
              <a:rPr lang="hu-HU" dirty="0"/>
              <a:t> adatbázist használ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Strukturált és megbízható adatkezelést biztosít </a:t>
            </a:r>
          </a:p>
          <a:p>
            <a:pPr marL="0" indent="0">
              <a:buNone/>
            </a:pPr>
            <a:endParaRPr lang="hu-HU" b="1" dirty="0"/>
          </a:p>
          <a:p>
            <a:pPr marL="0" indent="0">
              <a:buNone/>
            </a:pPr>
            <a:r>
              <a:rPr lang="hu-HU" sz="2800" b="1" dirty="0"/>
              <a:t>Eredmény:</a:t>
            </a:r>
            <a:r>
              <a:rPr lang="hu-HU" sz="2800" dirty="0"/>
              <a:t> stabil és hatékony háttérrendszer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60494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Felhasználói felület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hu-HU" dirty="0"/>
              <a:t>Főoldal </a:t>
            </a:r>
          </a:p>
          <a:p>
            <a:pPr lvl="0"/>
            <a:r>
              <a:rPr lang="hu-HU" dirty="0"/>
              <a:t>Terméklista </a:t>
            </a:r>
          </a:p>
          <a:p>
            <a:pPr lvl="0"/>
            <a:r>
              <a:rPr lang="hu-HU" dirty="0"/>
              <a:t>Kosár </a:t>
            </a:r>
          </a:p>
          <a:p>
            <a:pPr lvl="0"/>
            <a:r>
              <a:rPr lang="hu-HU" dirty="0"/>
              <a:t>Bejelentkezés / regisztráció </a:t>
            </a:r>
          </a:p>
          <a:p>
            <a:pPr marL="0" indent="0" algn="ctr">
              <a:buNone/>
            </a:pPr>
            <a:br>
              <a:rPr lang="hu-HU" dirty="0"/>
            </a:br>
            <a:r>
              <a:rPr lang="hu-HU" sz="2800" dirty="0"/>
              <a:t>A felület célja az egyszerű navigáció. A felhasználó gyorsan megtalálja a termékeket, és könnyen végig tud menni a vásárlási folyamaton.</a:t>
            </a:r>
            <a:endParaRPr lang="hu-H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EE8B31-D54F-4B9B-8481-59051289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Kosár funkció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B6C2907-6FE1-439D-A0C2-3F4CE1742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A kosár tartalmazza: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a megvásárolni kívánt termékeket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a kiválasztott mennyiségeket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Cél:</a:t>
            </a:r>
            <a:br>
              <a:rPr lang="hu-HU" dirty="0"/>
            </a:br>
            <a:r>
              <a:rPr lang="hu-HU" dirty="0"/>
              <a:t>a felhasználók több terméket gyűjthessenek össze vásárlás előtt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16014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6E1A55-F3F5-4900-BFBE-00CDED1BF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Kosár fő funkciói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2D6E5F4-4CB4-4A73-B5E6-5217FC24D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A kosár oldalon a felhasználó képes: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Termék eltávolítására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Mennyiségek módosítására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Rendelés leadására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Vásárlás folytatására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80674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CB6198-81F6-4E5E-9E6F-B17C3D56D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Rendelés leadása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EC2DEDD-BEC3-4685-AC70-1E2F73F15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u-HU" dirty="0"/>
              <a:t>A rendelés véglegesítésekor a rendszer:</a:t>
            </a:r>
          </a:p>
          <a:p>
            <a:pPr lvl="1">
              <a:buFont typeface="+mj-lt"/>
              <a:buAutoNum type="arabicPeriod"/>
            </a:pPr>
            <a:r>
              <a:rPr lang="hu-HU" dirty="0"/>
              <a:t>Feldolgozza a kosár tartalmát </a:t>
            </a:r>
          </a:p>
          <a:p>
            <a:pPr lvl="1">
              <a:buFont typeface="+mj-lt"/>
              <a:buAutoNum type="arabicPeriod"/>
            </a:pPr>
            <a:r>
              <a:rPr lang="hu-HU" dirty="0"/>
              <a:t>Létrehozza a rendelést </a:t>
            </a:r>
          </a:p>
          <a:p>
            <a:pPr lvl="1">
              <a:buFont typeface="+mj-lt"/>
              <a:buAutoNum type="arabicPeriod"/>
            </a:pPr>
            <a:r>
              <a:rPr lang="hu-HU" dirty="0"/>
              <a:t>Elmenti az adatokat az adatbázisba 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Tárolt adatok például: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felhasználó adatai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rendelt termékek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mennyiségek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/>
              <a:t>rendelési tételek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02638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7B62D7-CE72-4B46-9DAA-A4DEE8EFC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000" dirty="0"/>
              <a:t>Kosár szerepe a rendszerben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1A052CA-E432-4E20-A122-DE93C590D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A kosár a webshop egyik kulcs eleme: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2400" dirty="0"/>
              <a:t>Kapcsolat a termékek és a rendelés között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2400" dirty="0"/>
              <a:t>Egyszerű és felhasználóbarát vásárlási folyamat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2400" dirty="0"/>
              <a:t>Automatikus adatmentés az adatbázisba</a:t>
            </a:r>
          </a:p>
          <a:p>
            <a:endParaRPr lang="hu-HU" dirty="0"/>
          </a:p>
        </p:txBody>
      </p:sp>
      <p:pic>
        <p:nvPicPr>
          <p:cNvPr id="4" name="Kép8">
            <a:extLst>
              <a:ext uri="{FF2B5EF4-FFF2-40B4-BE49-F238E27FC236}">
                <a16:creationId xmlns:a16="http://schemas.microsoft.com/office/drawing/2014/main" id="{25B536C4-02A1-4E41-A439-C09401721B2E}"/>
              </a:ext>
            </a:extLst>
          </p:cNvPr>
          <p:cNvPicPr>
            <a:picLocks noChangeAspect="1"/>
            <a:extLst>
              <a:ext uri="sm">
                <sm:smNativeData xmlns="" xmlns:lc="http://schemas.openxmlformats.org/drawingml/2006/lockedCanvas" xmlns:sm="sm" val="SMDATA_16_rb7QuhMAAAAlAAAAEQAAAC0BAAAAkAAAAEgAAACQAAAASAAAAAAAAAAAAAAAAAAAAAEAAABQAAAAAAAAAAAA4D8AAAAAAADgPwAAAAAAAOA/AAAAAAAA4D8AAAAAAADgPwAAAAAAAOA/AAAAAAAA4D8AAAAAAADgPwAAAAAAAOA/AAAAAAAA4D8CAAAAjAAAAAAAAAAAAAAA////AAAAAAAAAAAAAAAAAAAAAAAAAAAAAAAAAAAAAAAAAAAAZAAAAAEAAABAAAAAAAAAAAAAAAAAAAAAAAAAAAAAAAAAAAAAAAAAAAAAAAAAAAAAAAAAAAAAAAAAAAAAAAAAAAAAAAAAAAAAAAAAAAAAAAAAAAAAAAAAAAAAAAAAAAAAFAAAADwAAAAAAAAAAAAAAAAAAAAUAAAAAQAAABQAAAAUAAAAFAAAAAEAAAAAAAAAZAAAAGQAAAAAAAAAZAAAAGQAAAAVAAAAYAAAAAAAAAAAAAAADwAAACADAAAAAAAAAAAAAAEAAACgMgAAVgcAAKr4//8BAAAAf39/AAEAAABkAAAAAAAAABQAAABAHwAAAAAAACYAAAAAAAAAwOD//wAAAAAmAAAAZAAAABYAAABMAAAAAAAAAAAAAAAEAAAAAAAAAAEAAAB/f38AAAAAACgAAAAoAAAAZAAAAGQAAAAAAAAAzMzMAAAAAABQAAAAUAAAAGQAAABkAAAAAAAAAAcAAAA4AAAAAAAAAAAAAAAAAAAA////AAAAAAAAAAAAAAAAAAAAAAAAAAAAAAAAAAAAAABkAAAAZAAAAAAAAAAjAAAABAAAAGQAAAAXAAAAFAAAAAAAAAAAAAAA/38AAP9/AAAAAQ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hAAAAQAAAADwAAAAAAQAAAKEAAAAAAAAAAAAAAgAAAAAAAAAMAAAAAQAAAAAAAACTKQAAKCAAAK8OAAAQAAIAOQcAAJMpAAAoAAAACAAAAAEAAAABAAAA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118062" y="3509010"/>
            <a:ext cx="6907876" cy="3154362"/>
          </a:xfrm>
          <a:prstGeom prst="rect">
            <a:avLst/>
          </a:prstGeom>
          <a:noFill/>
          <a:ln w="1270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1902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0B135A-9194-659A-474F-EC14F76B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hu-HU" b="1" dirty="0"/>
            </a:br>
            <a:r>
              <a:rPr lang="hu-HU" b="1" dirty="0"/>
              <a:t>Regisztráció</a:t>
            </a:r>
            <a:br>
              <a:rPr lang="hu-HU" b="1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73337DE-493A-F0EF-C700-891D4D7C3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Új felhasználó létrehozása</a:t>
            </a:r>
            <a:endParaRPr lang="hu-HU" dirty="0"/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Email, jelszó és szállítási cím megadása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Adatok ellenőrzése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Fiók mentése az adatbázisba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Hibakezelés (pl. már létező email)</a:t>
            </a:r>
          </a:p>
          <a:p>
            <a:endParaRPr lang="hu-HU" b="1" dirty="0"/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52644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00BC44-2386-8388-9261-A082C4307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Bejelentkezés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261D7CA-3CB8-BBA3-8516-8BCA5FF83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Felhasználó azonosítása</a:t>
            </a:r>
            <a:endParaRPr lang="hu-HU" dirty="0"/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Email + jelszó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Jelszó elfelejtése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Adatok ellenőrzése az adatbázisban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Sikeres login → hozzáférés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Hibás adatok → visszajelzés </a:t>
            </a:r>
          </a:p>
          <a:p>
            <a:endParaRPr lang="hu-HU" dirty="0"/>
          </a:p>
          <a:p>
            <a:endParaRPr lang="hu-HU" b="1" dirty="0"/>
          </a:p>
        </p:txBody>
      </p:sp>
    </p:spTree>
    <p:extLst>
      <p:ext uri="{BB962C8B-B14F-4D97-AF65-F5344CB8AC3E}">
        <p14:creationId xmlns:p14="http://schemas.microsoft.com/office/powerpoint/2010/main" val="1171806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810C3F-6215-88DC-4B0B-7AAB56226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Működés a rendszerben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9E3FCB8-E204-50E2-E6D8-C16306827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Hogyan kapcsolódik a webshophoz</a:t>
            </a:r>
            <a:endParaRPr lang="hu-HU" dirty="0"/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Bejelentkezett felhasználó: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rendelést tud leadni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adatokat menthet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Session / </a:t>
            </a:r>
            <a:r>
              <a:rPr lang="hu-HU" dirty="0" err="1"/>
              <a:t>token</a:t>
            </a:r>
            <a:r>
              <a:rPr lang="hu-HU" dirty="0"/>
              <a:t> kezelés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Kapcsolat más modullal: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rendelés</a:t>
            </a:r>
          </a:p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13039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6B4CE0-7EE0-8059-4A8C-F08BE5182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Biztonság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17B0349-6958-612F-ECC4-EA5919D7E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Adatvédelem</a:t>
            </a:r>
            <a:endParaRPr lang="hu-HU" dirty="0"/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Jelszó titkosítás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Input validáció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Alap biztonsági megoldások </a:t>
            </a:r>
          </a:p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05622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felület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hu-HU" dirty="0"/>
              <a:t>Termékkezelés </a:t>
            </a:r>
          </a:p>
          <a:p>
            <a:pPr lvl="0"/>
            <a:r>
              <a:rPr lang="hu-HU" dirty="0"/>
              <a:t>Kategóriakezelés </a:t>
            </a:r>
          </a:p>
          <a:p>
            <a:pPr lvl="0"/>
            <a:r>
              <a:rPr lang="hu-HU" dirty="0"/>
              <a:t>Rendelések kezelése </a:t>
            </a:r>
          </a:p>
          <a:p>
            <a:pPr marL="0" indent="0" algn="ctr">
              <a:buNone/>
            </a:pPr>
            <a:br>
              <a:rPr lang="hu-HU" dirty="0"/>
            </a:br>
            <a:r>
              <a:rPr lang="hu-HU" sz="2800" dirty="0"/>
              <a:t>Az </a:t>
            </a:r>
            <a:r>
              <a:rPr lang="hu-HU" sz="2800" dirty="0" err="1"/>
              <a:t>admin</a:t>
            </a:r>
            <a:r>
              <a:rPr lang="hu-HU" sz="2800" dirty="0"/>
              <a:t> felület egy zárt rendszer, ahol a webshop teljes működése irányítható.</a:t>
            </a:r>
            <a:br>
              <a:rPr lang="hu-HU" sz="2800" dirty="0"/>
            </a:br>
            <a:r>
              <a:rPr lang="hu-HU" sz="2800" dirty="0"/>
              <a:t>Minden adat és információ könnyen és gyorsan módosítható programozás nélkül.</a:t>
            </a:r>
            <a:endParaRPr lang="hu-H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Tesztelés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dirty="0"/>
              <a:t>Funkcionális tesztelés </a:t>
            </a:r>
          </a:p>
          <a:p>
            <a:pPr lvl="0"/>
            <a:r>
              <a:rPr lang="hu-HU" dirty="0"/>
              <a:t>Kosár és rendelés ellenőrzése </a:t>
            </a:r>
          </a:p>
          <a:p>
            <a:pPr lvl="0"/>
            <a:r>
              <a:rPr lang="hu-HU" dirty="0" err="1"/>
              <a:t>Reszponzivitás</a:t>
            </a:r>
            <a:r>
              <a:rPr lang="hu-HU" dirty="0"/>
              <a:t> tesztelése </a:t>
            </a:r>
          </a:p>
          <a:p>
            <a:pPr marL="0" indent="0" algn="ctr">
              <a:buNone/>
            </a:pPr>
            <a:endParaRPr lang="hu-HU" dirty="0"/>
          </a:p>
          <a:p>
            <a:pPr marL="0" indent="0" algn="ctr">
              <a:buNone/>
            </a:pPr>
            <a:br>
              <a:rPr lang="hu-HU" dirty="0"/>
            </a:br>
            <a:r>
              <a:rPr lang="hu-HU" sz="2800" dirty="0"/>
              <a:t>A fejlesztés során folyamatosan teszteltük a funkciókat. Külön odafigyeltünk arra, hogy minden eszközön megfelelően </a:t>
            </a:r>
            <a:r>
              <a:rPr lang="hu-HU" sz="2800" dirty="0" err="1"/>
              <a:t>működjön</a:t>
            </a:r>
            <a:r>
              <a:rPr lang="hu-HU" sz="2800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Összefoglalás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dirty="0"/>
              <a:t>Működő webshop rendszer </a:t>
            </a:r>
          </a:p>
          <a:p>
            <a:pPr lvl="0"/>
            <a:r>
              <a:rPr lang="hu-HU" dirty="0"/>
              <a:t>Könnyen bővíthető </a:t>
            </a:r>
          </a:p>
          <a:p>
            <a:pPr lvl="0"/>
            <a:r>
              <a:rPr lang="hu-HU" dirty="0"/>
              <a:t>Jövő: AI képszerkesztés </a:t>
            </a:r>
          </a:p>
          <a:p>
            <a:pPr marL="0" indent="0">
              <a:buNone/>
            </a:pPr>
            <a:endParaRPr lang="hu-HU" dirty="0"/>
          </a:p>
          <a:p>
            <a:pPr marL="0" indent="0" algn="ctr">
              <a:buNone/>
            </a:pPr>
            <a:br>
              <a:rPr lang="hu-HU" dirty="0"/>
            </a:br>
            <a:r>
              <a:rPr lang="hu-HU" sz="2800" dirty="0"/>
              <a:t>A projekt egy stabil alapot ad egy webshophoz. A jövőben bővíthető lesz online fizetéssel vagy AI-alapú tervezéssel.</a:t>
            </a:r>
            <a:endParaRPr lang="hu-H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B39E42-DA52-6E5C-0A4A-426717E6E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75171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hu-HU" sz="4800" dirty="0">
                <a:solidFill>
                  <a:srgbClr val="EDC96A"/>
                </a:solidFill>
              </a:rPr>
              <a:t>KÖSZÖNJÜK</a:t>
            </a:r>
            <a:r>
              <a:rPr lang="hu-HU" dirty="0">
                <a:solidFill>
                  <a:srgbClr val="EDC96A"/>
                </a:solidFill>
              </a:rPr>
              <a:t> A FIGYELMET!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440FCA-AA46-3BCB-0AC7-747506D2A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01729"/>
            <a:ext cx="8229600" cy="248756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hu-HU" dirty="0">
                <a:solidFill>
                  <a:srgbClr val="815822"/>
                </a:solidFill>
              </a:rPr>
              <a:t>Szabó Zsuzsanna</a:t>
            </a:r>
          </a:p>
          <a:p>
            <a:pPr marL="0" indent="0" algn="ctr">
              <a:buNone/>
            </a:pPr>
            <a:r>
              <a:rPr lang="hu-HU" dirty="0">
                <a:solidFill>
                  <a:srgbClr val="815822"/>
                </a:solidFill>
              </a:rPr>
              <a:t>Szabó András</a:t>
            </a:r>
          </a:p>
          <a:p>
            <a:pPr marL="0" indent="0" algn="ctr">
              <a:buNone/>
            </a:pPr>
            <a:r>
              <a:rPr lang="hu-HU" dirty="0">
                <a:solidFill>
                  <a:srgbClr val="815822"/>
                </a:solidFill>
              </a:rPr>
              <a:t>Magyar Péter</a:t>
            </a:r>
          </a:p>
          <a:p>
            <a:pPr marL="0" indent="0" algn="ctr">
              <a:buNone/>
            </a:pPr>
            <a:endParaRPr lang="hu-HU" dirty="0">
              <a:solidFill>
                <a:srgbClr val="815822"/>
              </a:solidFill>
            </a:endParaRPr>
          </a:p>
          <a:p>
            <a:pPr marL="0" indent="0" algn="ctr">
              <a:buNone/>
            </a:pPr>
            <a:r>
              <a:rPr lang="hu-HU" sz="2400" dirty="0">
                <a:solidFill>
                  <a:srgbClr val="815822"/>
                </a:solidFill>
              </a:rPr>
              <a:t>2026.</a:t>
            </a:r>
          </a:p>
        </p:txBody>
      </p:sp>
    </p:spTree>
    <p:extLst>
      <p:ext uri="{BB962C8B-B14F-4D97-AF65-F5344CB8AC3E}">
        <p14:creationId xmlns:p14="http://schemas.microsoft.com/office/powerpoint/2010/main" val="29202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</TotalTime>
  <Words>595</Words>
  <Application>Microsoft Office PowerPoint</Application>
  <PresentationFormat>Diavetítés a képernyőre (4:3 oldalarány)</PresentationFormat>
  <Paragraphs>150</Paragraphs>
  <Slides>25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25</vt:i4>
      </vt:variant>
    </vt:vector>
  </HeadingPairs>
  <TitlesOfParts>
    <vt:vector size="29" baseType="lpstr">
      <vt:lpstr>Arial</vt:lpstr>
      <vt:lpstr>Palatino Linotype</vt:lpstr>
      <vt:lpstr>Segoe UI</vt:lpstr>
      <vt:lpstr>Office Theme</vt:lpstr>
      <vt:lpstr>MAGYAR GRAVÍR WEBÁRUHÁZ</vt:lpstr>
      <vt:lpstr>Projekt célja</vt:lpstr>
      <vt:lpstr>Fő funkciók</vt:lpstr>
      <vt:lpstr>Frontend</vt:lpstr>
      <vt:lpstr>Backend</vt:lpstr>
      <vt:lpstr>Adatbázis</vt:lpstr>
      <vt:lpstr>Az adatbázis szerepe</vt:lpstr>
      <vt:lpstr>Entity Framework Core + SQLite</vt:lpstr>
      <vt:lpstr>Adatbázis vizsgálata (DBeaver)</vt:lpstr>
      <vt:lpstr>Adatbázis séma</vt:lpstr>
      <vt:lpstr>PowerPoint-bemutató</vt:lpstr>
      <vt:lpstr>Adatbázis összegzés</vt:lpstr>
      <vt:lpstr>Felhasználói felület</vt:lpstr>
      <vt:lpstr>Kosár funkció</vt:lpstr>
      <vt:lpstr>Kosár fő funkciói</vt:lpstr>
      <vt:lpstr>Rendelés leadása</vt:lpstr>
      <vt:lpstr>Kosár szerepe a rendszerben</vt:lpstr>
      <vt:lpstr> Regisztráció </vt:lpstr>
      <vt:lpstr>Bejelentkezés</vt:lpstr>
      <vt:lpstr>Működés a rendszerben</vt:lpstr>
      <vt:lpstr>Biztonság</vt:lpstr>
      <vt:lpstr>Admin felület</vt:lpstr>
      <vt:lpstr>Tesztelés</vt:lpstr>
      <vt:lpstr>Összefoglalás</vt:lpstr>
      <vt:lpstr>KÖSZÖNJÜK A FIGYELMET!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MAGYAR GRAVÍR WEBÁRUHÁZ</dc:title>
  <dc:subject/>
  <dc:creator/>
  <cp:keywords/>
  <dc:description>generated using python-pptx</dc:description>
  <cp:lastModifiedBy>Andrew</cp:lastModifiedBy>
  <cp:revision>9</cp:revision>
  <dcterms:created xsi:type="dcterms:W3CDTF">2013-01-27T09:14:16Z</dcterms:created>
  <dcterms:modified xsi:type="dcterms:W3CDTF">2026-05-04T18:53:54Z</dcterms:modified>
  <cp:category/>
</cp:coreProperties>
</file>